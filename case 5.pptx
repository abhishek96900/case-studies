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949F-B5EE-F89D-746A-FB255EC07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0B67B-5B67-0A15-C430-477A1F27D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0559B-15F2-E887-DC61-C9DAE74B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135D-6346-3A01-6963-13816B34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3AC3C-8EDF-C668-5777-15F3716A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73A6-4584-CE59-E9B2-740D468B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D0B4-0216-A0FD-921E-5D0305555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C989E-C863-7427-9E5A-F3C9FBB4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4EE7C-3825-9BFD-FD16-40DCDC53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3C167-4859-E87D-5948-6DF39CC4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0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F441-2FBF-3C66-3030-9485A91A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0A32B-B853-C6E3-1272-9F6CB019C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989FC-20F9-D06F-E976-8F8CD1E3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33E02-BF76-F5E1-8D0E-5D772C7A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2B0F-7619-50C1-7463-0EDAB514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77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1509-3218-48B3-C667-B0E50B4E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41F9-FD35-EEDB-42CE-75F6689F1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50828-E918-0242-0592-0882E23A6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FA7C6-12F4-4F23-5E26-334C4A6D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2B21D-ECAB-3992-FE8E-74D882BC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09AB8-EE0D-0345-A4FE-D33FEC6B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3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57DC-A44C-C15A-DD0B-A7DD521D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33A5-38A2-7F53-7D02-E1139759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F5A6-DA59-0B67-4AD0-953810C2F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C1A31-5EC8-78AE-D288-C6C7B231C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CE385-0BFB-3F10-E22C-B4596E4D7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37F6EF-7E43-535D-31E7-5637EBC9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99146-F4C6-9D3D-7829-0DDE95DE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351EE-487F-31FD-FD73-3032BEF5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98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09E5-39AF-E86B-C687-04283924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9F801-78BD-D402-4BE6-7C88301C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CDF0F-43D1-1F39-C036-7171D00B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5C67C-29ED-2C9A-1197-0C884F9B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1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C0991-F5EC-3694-959C-CE3FE06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FB119-2293-3304-5B3C-65ED006C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4F343-F1C7-413E-4486-F633940B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54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3566-0FE8-B612-24F6-5FB27CD2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C86D-D1A3-AA77-4AAE-C223D759A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74720-C77A-3AE2-C609-2B0D9BE39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E6831-B3B1-FBBB-5937-6C23A12A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49794-0DEE-5612-049F-7DA3CDCA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51110-9CFB-3FF0-26A3-9D3F0DC2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36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3757-C717-31A3-D2B4-70E70B8F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2B3ED-A108-D8E7-B877-B35D51BC2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797ED-CA6D-E8DB-2D75-683718AA9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05757-FCD2-475E-E160-039C7F2F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5B0F5-76C5-75F2-FAA7-1B03D698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920E5-83AB-E219-039D-FCC0F36C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02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D397-D584-83A4-1894-6DBDB7E8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6D7F7-EC1F-9582-607C-3A9E27B70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93D6C-D1F5-1300-EA19-0C5BB38D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89BB-749C-01A7-851C-C1E9E309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C72FA-E08C-2C90-C0C8-08F5EC0F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7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96D11-59B5-3E10-3549-831953D59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42A1-A55B-6140-06C7-6985D9775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40726-17B8-240C-6E75-38DA816B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FF341-49F7-16CB-9250-2C76E3BB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7C633-41DB-3FA6-7DC8-D7058DDC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08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689676-2D85-9272-19C9-AA72B2C9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5809B-8EE0-055B-3872-54FA295CD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4126-0173-F1A7-F10A-1D112F3BD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CB297-52C2-4FB8-8A19-9733A61ADDF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37EA-729B-B641-0D00-6F7206020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5E838-8A63-8D22-2FC9-FA1FF6755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AEFB6-C103-415E-A6FD-22698BFC8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4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09CB-026F-DB23-157D-2B2C7099C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8369"/>
            <a:ext cx="9144000" cy="2821594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Data Analyst at </a:t>
            </a:r>
            <a:r>
              <a:rPr lang="en-IN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ToyJoy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</a:br>
            <a:endParaRPr lang="en-IN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0F1E2-9B91-8992-99F9-228B4CEA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320" y="3106261"/>
            <a:ext cx="2972215" cy="2753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81CF3-2B17-FBE1-EF3C-24C11162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924" y="3106261"/>
            <a:ext cx="2924583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5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309C6-F651-0BA8-1713-88DC12A0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533" y="620517"/>
            <a:ext cx="3439005" cy="2626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E6FD1-E01D-585B-6826-E81086AEA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796" y="3429000"/>
            <a:ext cx="3719538" cy="2562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971E42-AAA8-0640-E26F-C6A94ED7E581}"/>
              </a:ext>
            </a:extLst>
          </p:cNvPr>
          <p:cNvSpPr txBox="1"/>
          <p:nvPr/>
        </p:nvSpPr>
        <p:spPr>
          <a:xfrm>
            <a:off x="986319" y="1171254"/>
            <a:ext cx="34390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Agency FB" panose="020B0503020202020204" pitchFamily="34" charset="0"/>
              </a:rPr>
              <a:t>Number of units sold by each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Agency FB" panose="020B0503020202020204" pitchFamily="34" charset="0"/>
              </a:rPr>
              <a:t>Number of out-of-stock units by each category </a:t>
            </a:r>
          </a:p>
        </p:txBody>
      </p:sp>
    </p:spTree>
    <p:extLst>
      <p:ext uri="{BB962C8B-B14F-4D97-AF65-F5344CB8AC3E}">
        <p14:creationId xmlns:p14="http://schemas.microsoft.com/office/powerpoint/2010/main" val="186574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7C00-9A31-5BD1-092C-9D72DA5B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E5372-5098-8B20-496F-5AEFD13A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099" y="721783"/>
            <a:ext cx="3515216" cy="2181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A232F0-6388-818E-E82D-B3FE017CCCD5}"/>
              </a:ext>
            </a:extLst>
          </p:cNvPr>
          <p:cNvSpPr txBox="1"/>
          <p:nvPr/>
        </p:nvSpPr>
        <p:spPr>
          <a:xfrm>
            <a:off x="1086492" y="1634880"/>
            <a:ext cx="6097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effectLst/>
                <a:latin typeface="Agency FB" panose="020B0503020202020204" pitchFamily="34" charset="0"/>
              </a:rPr>
              <a:t>Inventory Turnover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Sum of unit price by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B29B60-E228-2E30-6A6E-8D3966FE0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276" y="3323712"/>
            <a:ext cx="3410426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B7418-86D4-0FED-B23A-E456CA3A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5439C-2981-6CA3-FDED-0660349F2B6F}"/>
              </a:ext>
            </a:extLst>
          </p:cNvPr>
          <p:cNvSpPr txBox="1"/>
          <p:nvPr/>
        </p:nvSpPr>
        <p:spPr>
          <a:xfrm>
            <a:off x="924674" y="3429000"/>
            <a:ext cx="96988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Festive Season = Peak Demand Driver</a:t>
            </a:r>
            <a:endParaRPr lang="en-US" dirty="0"/>
          </a:p>
          <a:p>
            <a:pPr lvl="1"/>
            <a:r>
              <a:rPr lang="en-US" dirty="0"/>
              <a:t>Inventory should be built 4–6 weeks before festive periods.</a:t>
            </a:r>
          </a:p>
          <a:p>
            <a:pPr lvl="1"/>
            <a:r>
              <a:rPr lang="en-US" dirty="0"/>
              <a:t>Focus marketing campaigns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School Holiday = Second Major Peak</a:t>
            </a:r>
            <a:endParaRPr lang="en-US" dirty="0"/>
          </a:p>
          <a:p>
            <a:pPr lvl="1"/>
            <a:r>
              <a:rPr lang="en-US" dirty="0"/>
              <a:t>Critical for Puzzles &amp; Board Games.</a:t>
            </a:r>
          </a:p>
          <a:p>
            <a:pPr lvl="1"/>
            <a:r>
              <a:rPr lang="en-US" dirty="0"/>
              <a:t>Adjust reorder points upward before this season.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Low-Demand Seasons (Valentine’s Day, New Year)</a:t>
            </a:r>
            <a:endParaRPr lang="en-US" dirty="0"/>
          </a:p>
          <a:p>
            <a:pPr lvl="1"/>
            <a:r>
              <a:rPr lang="en-US" dirty="0"/>
              <a:t>Avoid overstocking.</a:t>
            </a:r>
          </a:p>
          <a:p>
            <a:pPr lvl="1"/>
            <a:r>
              <a:rPr lang="en-US" dirty="0"/>
              <a:t>Consider promotions to clear slow-moving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Dolls Show Highest Seasonal Volatility</a:t>
            </a:r>
            <a:endParaRPr lang="en-US" dirty="0"/>
          </a:p>
          <a:p>
            <a:pPr lvl="1"/>
            <a:r>
              <a:rPr lang="en-US" dirty="0"/>
              <a:t>Requires tighter forecasting &amp; safety stock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AD03D-9F10-02E6-B8CF-777BCAD3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385985"/>
            <a:ext cx="10284431" cy="22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3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B928-40AB-387A-72ED-FC913ED2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C21F4-15E6-341F-7125-69D4C4AB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381" y="1269918"/>
            <a:ext cx="3248478" cy="24482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4D67A-C66E-FE47-F038-934AC6451048}"/>
              </a:ext>
            </a:extLst>
          </p:cNvPr>
          <p:cNvSpPr txBox="1"/>
          <p:nvPr/>
        </p:nvSpPr>
        <p:spPr>
          <a:xfrm>
            <a:off x="2332234" y="1664413"/>
            <a:ext cx="3248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Total revenue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D3E78-0477-47F0-8FFF-D63B51B28E46}"/>
              </a:ext>
            </a:extLst>
          </p:cNvPr>
          <p:cNvSpPr txBox="1"/>
          <p:nvPr/>
        </p:nvSpPr>
        <p:spPr>
          <a:xfrm>
            <a:off x="5476126" y="3955550"/>
            <a:ext cx="6791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have maximum revenue from doll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57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9B7E-D4C1-1AC3-F37E-708BF3BB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3A479-9AA7-4917-A2B4-59D325609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468" y="1048213"/>
            <a:ext cx="4658375" cy="3343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4CFE84-2FA7-AB92-5C93-30E1FF3FC2F6}"/>
              </a:ext>
            </a:extLst>
          </p:cNvPr>
          <p:cNvSpPr txBox="1"/>
          <p:nvPr/>
        </p:nvSpPr>
        <p:spPr>
          <a:xfrm>
            <a:off x="1335640" y="2321960"/>
            <a:ext cx="3113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Here are the top 10 stocks that have the highest stockout rates. </a:t>
            </a:r>
          </a:p>
        </p:txBody>
      </p:sp>
    </p:spTree>
    <p:extLst>
      <p:ext uri="{BB962C8B-B14F-4D97-AF65-F5344CB8AC3E}">
        <p14:creationId xmlns:p14="http://schemas.microsoft.com/office/powerpoint/2010/main" val="49302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4ABB-E27A-0287-C748-1015B5B3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2FD69-0BFE-1F13-8239-2ABDF2BC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15" y="267128"/>
            <a:ext cx="9621593" cy="38630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AD897B-438E-469D-561C-0AA908B66938}"/>
              </a:ext>
            </a:extLst>
          </p:cNvPr>
          <p:cNvSpPr txBox="1"/>
          <p:nvPr/>
        </p:nvSpPr>
        <p:spPr>
          <a:xfrm>
            <a:off x="1089061" y="3719245"/>
            <a:ext cx="97399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The analysis shows that inventory levels are often higher than actual sales, leading to excess capital being tied up.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ToyJoy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should reduce base inventory by 10–15% and implement dynamic reorder points based on demand and lead time. Seasonal peaks during Summer and Festive periods require advance stock planning, while post-peak replenishment should be tightened to prevent overstock.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35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07F0-5D21-DDC0-663B-27D4F4B5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39C464-A352-0CC3-A3F9-B1E9E1072232}"/>
              </a:ext>
            </a:extLst>
          </p:cNvPr>
          <p:cNvSpPr txBox="1"/>
          <p:nvPr/>
        </p:nvSpPr>
        <p:spPr>
          <a:xfrm>
            <a:off x="760288" y="1089061"/>
            <a:ext cx="10828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 Safety stock should be increased only for high-demand, high-stockout-risk products. A quarterly SKU review will help eliminate slow movers. These actions will improve turnover, reduce holding costs, and strengthen cash flow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68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17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223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Agency FB</vt:lpstr>
      <vt:lpstr>Algerian</vt:lpstr>
      <vt:lpstr>Arial</vt:lpstr>
      <vt:lpstr>Calibri</vt:lpstr>
      <vt:lpstr>Calibri Light</vt:lpstr>
      <vt:lpstr>Office Theme</vt:lpstr>
      <vt:lpstr>Data Analyst at ToyJoy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Yadav</dc:creator>
  <cp:lastModifiedBy>Vaishali Yadav</cp:lastModifiedBy>
  <cp:revision>2</cp:revision>
  <dcterms:created xsi:type="dcterms:W3CDTF">2026-02-25T16:19:56Z</dcterms:created>
  <dcterms:modified xsi:type="dcterms:W3CDTF">2026-02-26T05:40:03Z</dcterms:modified>
</cp:coreProperties>
</file>